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</p:sldIdLst>
  <p:sldSz type="screen16x9" cy="6858000" cx="12192000"/>
  <p:notesSz cx="7103745" cy="10234295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MasterView">
  <p:normalViewPr horzBarState="maximized">
    <p:restoredLeft sz="12278" autoAdjust="0"/>
    <p:restoredTop sz="94660"/>
  </p:normalViewPr>
  <p:slideViewPr>
    <p:cSldViewPr showGuides="1" snapToGrid="0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1048660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1048661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1048662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54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1048655" name="Slide Image Placehoder 3"/>
          <p:cNvSpPr>
            <a:spLocks noChangeAspect="1" noRot="1" noGrp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656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dirty="0" lang="en-US" smtClean="0"/>
              <a:t>Click to edit Master title style</a:t>
            </a:r>
            <a:endParaRPr dirty="0" lang="en-US"/>
          </a:p>
        </p:txBody>
      </p:sp>
      <p:sp>
        <p:nvSpPr>
          <p:cNvPr id="1048593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1048596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algn="ctr" indent="0" marL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dirty="0" lang="en-US" smtClean="0"/>
              <a:t>Click to edit Master subtitle style</a:t>
            </a:r>
            <a:endParaRPr dirty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b="1" sz="4400">
                <a:effectLst/>
                <a:latin typeface="Calibri Light" panose="020F0302020204030204" pitchFamily="34" charset="0"/>
              </a:defRPr>
            </a:lvl1pPr>
          </a:lstStyle>
          <a:p>
            <a:r>
              <a:rPr dirty="0" lang="en-US" smtClean="0"/>
              <a:t>Click to edit Master title style</a:t>
            </a:r>
            <a:endParaRPr dirty="0"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dirty="0" lang="en-US" smtClean="0"/>
              <a:t>Click to edit Master text styles</a:t>
            </a:r>
            <a:endParaRPr dirty="0" lang="en-US" smtClean="0"/>
          </a:p>
          <a:p>
            <a:pPr lvl="1"/>
            <a:r>
              <a:rPr dirty="0" lang="en-US"/>
              <a:t>Second level </a:t>
            </a:r>
            <a:endParaRPr dirty="0" lang="en-US"/>
          </a:p>
          <a:p>
            <a:pPr lvl="2"/>
            <a:r>
              <a:rPr dirty="0" lang="en-US"/>
              <a:t>Third level</a:t>
            </a:r>
            <a:endParaRPr dirty="0" lang="en-US"/>
          </a:p>
          <a:p>
            <a:pPr lvl="3"/>
            <a:r>
              <a:rPr dirty="0" lang="en-US"/>
              <a:t>Fourth level</a:t>
            </a:r>
            <a:endParaRPr dirty="0" lang="en-US"/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dirty="0" lang="en-US" smtClean="0">
                <a:sym typeface="+mn-ea"/>
              </a:rPr>
              <a:t>Click to edit Master title style</a:t>
            </a:r>
            <a:endParaRPr dirty="0" lang="en-US" smtClean="0">
              <a:sym typeface="+mn-ea"/>
            </a:endParaRPr>
          </a:p>
        </p:txBody>
      </p:sp>
      <p:sp>
        <p:nvSpPr>
          <p:cNvPr id="1048626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indent="0" marL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48627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b="0" sz="4400" i="0">
                <a:effectLst/>
              </a:defRPr>
            </a:lvl1pPr>
          </a:lstStyle>
          <a:p>
            <a:r>
              <a:rPr dirty="0" lang="en-US" smtClean="0">
                <a:sym typeface="+mn-ea"/>
              </a:rPr>
              <a:t>Click to edit Master title style</a:t>
            </a:r>
            <a:endParaRPr dirty="0" lang="en-US"/>
          </a:p>
        </p:txBody>
      </p:sp>
      <p:sp>
        <p:nvSpPr>
          <p:cNvPr id="1048631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  <a:p>
            <a:pPr lvl="1"/>
            <a:r>
              <a:rPr dirty="0" lang="en-US"/>
              <a:t>Second level</a:t>
            </a:r>
            <a:endParaRPr dirty="0" lang="en-US"/>
          </a:p>
          <a:p>
            <a:pPr lvl="2"/>
            <a:r>
              <a:rPr dirty="0" lang="en-US"/>
              <a:t>Third level</a:t>
            </a:r>
            <a:endParaRPr dirty="0" lang="en-US"/>
          </a:p>
          <a:p>
            <a:pPr lvl="3"/>
            <a:r>
              <a:rPr dirty="0" lang="en-US"/>
              <a:t>Fourth level</a:t>
            </a:r>
            <a:endParaRPr dirty="0" lang="en-US"/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048632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baseline="0" b="0" cap="none" dirty="0" sz="2800" i="0" kern="1200" kumimoji="0" lang="en-US" noProof="1" normalizeH="0" spc="0" strike="noStrike" u="none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  <a:p>
            <a:pPr lvl="1"/>
            <a:r>
              <a:rPr dirty="0" lang="en-US">
                <a:sym typeface="+mn-ea"/>
              </a:rPr>
              <a:t>Second level</a:t>
            </a:r>
            <a:endParaRPr dirty="0" lang="en-US"/>
          </a:p>
          <a:p>
            <a:pPr lvl="2"/>
            <a:r>
              <a:rPr dirty="0" lang="en-US">
                <a:sym typeface="+mn-ea"/>
              </a:rPr>
              <a:t>Third level</a:t>
            </a:r>
            <a:endParaRPr dirty="0" lang="en-US"/>
          </a:p>
          <a:p>
            <a:pPr lvl="3"/>
            <a:r>
              <a:rPr dirty="0" lang="en-US">
                <a:sym typeface="+mn-ea"/>
              </a:rPr>
              <a:t>Fourth level</a:t>
            </a:r>
            <a:endParaRPr dirty="0" lang="en-US"/>
          </a:p>
          <a:p>
            <a:pPr lvl="4"/>
            <a:r>
              <a:rPr dirty="0" lang="en-US">
                <a:sym typeface="+mn-ea"/>
              </a:rPr>
              <a:t>Fifth level</a:t>
            </a:r>
            <a:endParaRPr dirty="0" lang="en-US"/>
          </a:p>
        </p:txBody>
      </p:sp>
      <p:sp>
        <p:nvSpPr>
          <p:cNvPr id="10486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486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dirty="0" lang="en-US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1048637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indent="0" marL="0">
              <a:buNone/>
              <a:defRPr b="1" sz="24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p>
            <a:pPr lvl="0"/>
            <a:r>
              <a:rPr dirty="0" lang="en-US"/>
              <a:t>Click to edit Master text styles</a:t>
            </a:r>
            <a:endParaRPr dirty="0" lang="en-US"/>
          </a:p>
          <a:p>
            <a:pPr lvl="1"/>
            <a:r>
              <a:rPr dirty="0" lang="en-US"/>
              <a:t>Second level</a:t>
            </a:r>
            <a:endParaRPr dirty="0" lang="en-US"/>
          </a:p>
          <a:p>
            <a:pPr lvl="2"/>
            <a:r>
              <a:rPr dirty="0" lang="en-US"/>
              <a:t>Third level</a:t>
            </a:r>
            <a:endParaRPr dirty="0" lang="en-US"/>
          </a:p>
          <a:p>
            <a:pPr lvl="3"/>
            <a:r>
              <a:rPr dirty="0" lang="en-US"/>
              <a:t>Fourth level</a:t>
            </a:r>
            <a:endParaRPr dirty="0" lang="en-US"/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04863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indent="0" marL="0">
              <a:buNone/>
              <a:defRPr b="1" sz="24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48640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p>
            <a:pPr lvl="0"/>
            <a:r>
              <a:rPr dirty="0" lang="en-US">
                <a:sym typeface="+mn-ea"/>
              </a:rPr>
              <a:t>Click to edit Master text styles</a:t>
            </a:r>
            <a:endParaRPr dirty="0" lang="en-US"/>
          </a:p>
          <a:p>
            <a:pPr lvl="1"/>
            <a:r>
              <a:rPr dirty="0" lang="en-US"/>
              <a:t>Second level</a:t>
            </a:r>
            <a:endParaRPr dirty="0" lang="en-US"/>
          </a:p>
          <a:p>
            <a:pPr lvl="2"/>
            <a:r>
              <a:rPr dirty="0" lang="en-US"/>
              <a:t>Third level</a:t>
            </a:r>
            <a:endParaRPr dirty="0" lang="en-US"/>
          </a:p>
          <a:p>
            <a:pPr lvl="3"/>
            <a:r>
              <a:rPr dirty="0" lang="en-US"/>
              <a:t>Fourth level</a:t>
            </a:r>
            <a:endParaRPr dirty="0" lang="en-US"/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04864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4864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b="0" sz="440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04861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4861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4864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b="0" sz="320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048648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dirty="0" lang="en-US"/>
          </a:p>
        </p:txBody>
      </p:sp>
      <p:sp>
        <p:nvSpPr>
          <p:cNvPr id="1048649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indent="0" marL="0">
              <a:lnSpc>
                <a:spcPct val="150000"/>
              </a:lnSpc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4865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dirty="0" lang="en-US"/>
          </a:p>
        </p:txBody>
      </p:sp>
      <p:sp>
        <p:nvSpPr>
          <p:cNvPr id="104865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1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p>
            <a:pPr lvl="0"/>
            <a:r>
              <a:rPr dirty="0" lang="en-US"/>
              <a:t>Click to edit Master text styles</a:t>
            </a:r>
            <a:endParaRPr dirty="0" lang="en-US"/>
          </a:p>
          <a:p>
            <a:pPr lvl="1"/>
            <a:r>
              <a:rPr dirty="0" lang="en-US"/>
              <a:t>Second level</a:t>
            </a:r>
            <a:endParaRPr dirty="0" lang="en-US"/>
          </a:p>
          <a:p>
            <a:pPr lvl="2"/>
            <a:r>
              <a:rPr dirty="0" lang="en-US"/>
              <a:t>Third level</a:t>
            </a:r>
            <a:endParaRPr dirty="0" lang="en-US"/>
          </a:p>
          <a:p>
            <a:pPr lvl="3"/>
            <a:r>
              <a:rPr dirty="0" lang="en-US"/>
              <a:t>Fourth level</a:t>
            </a:r>
            <a:endParaRPr dirty="0" lang="en-US"/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4862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1048624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p>
            <a:pPr lvl="0"/>
            <a:r>
              <a:rPr dirty="0" lang="en-US">
                <a:sym typeface="+mn-ea"/>
              </a:rPr>
              <a:t>Click to edit Master text styles</a:t>
            </a:r>
            <a:endParaRPr dirty="0" lang="en-US"/>
          </a:p>
          <a:p>
            <a:pPr lvl="1"/>
            <a:r>
              <a:rPr dirty="0" lang="en-US">
                <a:sym typeface="+mn-ea"/>
              </a:rPr>
              <a:t>Second level</a:t>
            </a:r>
            <a:endParaRPr dirty="0" lang="en-US"/>
          </a:p>
          <a:p>
            <a:pPr lvl="2"/>
            <a:r>
              <a:rPr dirty="0" lang="en-US">
                <a:sym typeface="+mn-ea"/>
              </a:rPr>
              <a:t>Third level</a:t>
            </a:r>
            <a:endParaRPr dirty="0" lang="en-US"/>
          </a:p>
          <a:p>
            <a:pPr lvl="3"/>
            <a:r>
              <a:rPr dirty="0" lang="en-US">
                <a:sym typeface="+mn-ea"/>
              </a:rPr>
              <a:t>Fourth level</a:t>
            </a:r>
            <a:endParaRPr dirty="0" lang="en-US"/>
          </a:p>
          <a:p>
            <a:pPr lvl="4"/>
            <a:r>
              <a:rPr dirty="0" lang="en-US">
                <a:sym typeface="+mn-ea"/>
              </a:rPr>
              <a:t>Fifth level</a:t>
            </a:r>
            <a:endParaRPr dirty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dirty="0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algn="l" defTabSz="914400" eaLnBrk="1" fontAlgn="auto" hangingPunct="1" indent="-228600" latinLnBrk="0" lvl="0" marL="2286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lang="en-US" smtClean="0"/>
              <a:t>Click to edit Master text styles</a:t>
            </a:r>
            <a:endParaRPr dirty="0" lang="en-US" smtClean="0"/>
          </a:p>
          <a:p>
            <a:pPr lvl="1"/>
            <a:r>
              <a:rPr dirty="0" lang="en-US" smtClean="0"/>
              <a:t>Second level</a:t>
            </a:r>
            <a:endParaRPr dirty="0" lang="en-US" smtClean="0"/>
          </a:p>
          <a:p>
            <a:pPr lvl="2"/>
            <a:r>
              <a:rPr dirty="0" lang="en-US" smtClean="0"/>
              <a:t>Third level</a:t>
            </a:r>
            <a:endParaRPr dirty="0" lang="en-US"/>
          </a:p>
          <a:p>
            <a:pPr lvl="3"/>
            <a:r>
              <a:rPr dirty="0" lang="en-US" smtClean="0"/>
              <a:t>Fourth level</a:t>
            </a:r>
            <a:endParaRPr dirty="0" lang="en-US"/>
          </a:p>
          <a:p>
            <a:pPr lvl="4"/>
            <a:r>
              <a:rPr dirty="0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baseline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dirty="0"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algn="l" defTabSz="914400" eaLnBrk="1" fontAlgn="auto" hangingPunct="1" indent="0" latinLnBrk="0" marL="0" marR="0" rtl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b="0" sz="28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baseline="0" sz="240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baseline="0" sz="2000" kern="120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baseline="0" sz="1800" kern="120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baseline="0" sz="1800" kern="120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ctrTitle"/>
          </p:nvPr>
        </p:nvSpPr>
        <p:spPr>
          <a:xfrm>
            <a:off x="549275" y="1795145"/>
            <a:ext cx="11093450" cy="2345690"/>
          </a:xfrm>
        </p:spPr>
        <p:txBody>
          <a:bodyPr>
            <a:normAutofit fontScale="90000"/>
          </a:bodyPr>
          <a:p>
            <a:r>
              <a:rPr sz="6665" lang="en-US">
                <a:solidFill>
                  <a:schemeClr val="bg1"/>
                </a:solidFill>
                <a:latin typeface="Narisovan" charset="0"/>
              </a:rPr>
              <a:t>От генеративного ИИ</a:t>
            </a:r>
            <a:br>
              <a:rPr sz="6665" lang="en-US">
                <a:solidFill>
                  <a:schemeClr val="bg1"/>
                </a:solidFill>
                <a:latin typeface="Narisovan" charset="0"/>
              </a:rPr>
            </a:br>
            <a:r>
              <a:rPr sz="6665" lang="en-US">
                <a:solidFill>
                  <a:schemeClr val="bg1"/>
                </a:solidFill>
                <a:latin typeface="Narisovan" charset="0"/>
              </a:rPr>
              <a:t>к интерактивному</a:t>
            </a:r>
            <a:endParaRPr sz="6665" lang="en-US">
              <a:solidFill>
                <a:schemeClr val="bg1"/>
              </a:solidFill>
              <a:latin typeface="Narisovan" charset="0"/>
            </a:endParaRPr>
          </a:p>
        </p:txBody>
      </p:sp>
      <p:pic>
        <p:nvPicPr>
          <p:cNvPr id="2097155" name="Изображение 5" descr="image-no-bg-preview (carve.photos)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387330" y="118745"/>
            <a:ext cx="1581150" cy="1676400"/>
          </a:xfrm>
          <a:prstGeom prst="rect"/>
        </p:spPr>
      </p:pic>
      <p:pic>
        <p:nvPicPr>
          <p:cNvPr id="2097156" name="Изображение 7" descr="image-edited-free (carve.photos)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0387330" y="4474210"/>
            <a:ext cx="2496820" cy="2850515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33" name=""/>
        <p:cNvGrpSpPr/>
        <p:nvPr/>
      </p:nvGrpSpPr>
      <p:grpSpPr>
        <a:xfrm/>
      </p:grpSpPr>
      <p:sp>
        <p:nvSpPr>
          <p:cNvPr id="1048598" name="Заголовок 1"/>
          <p:cNvSpPr>
            <a:spLocks noGrp="1"/>
          </p:cNvSpPr>
          <p:nvPr>
            <p:ph type="title"/>
          </p:nvPr>
        </p:nvSpPr>
        <p:spPr>
          <a:xfrm>
            <a:off x="425450" y="258445"/>
            <a:ext cx="10515600" cy="1325563"/>
          </a:xfrm>
        </p:spPr>
        <p:txBody>
          <a:bodyPr/>
          <a:p>
            <a:r>
              <a:rPr dirty="0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Где мы </a:t>
            </a:r>
            <a:r>
              <a:rPr dirty="0" lang="ru-RU">
                <a:solidFill>
                  <a:schemeClr val="bg1"/>
                </a:solidFill>
                <a:latin typeface="Narisovan" charset="0"/>
                <a:cs typeface="Narisovan" charset="0"/>
                <a:sym typeface="+mn-ea"/>
              </a:rPr>
              <a:t>находимся </a:t>
            </a:r>
            <a:r>
              <a:rPr dirty="0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сегодня</a:t>
            </a:r>
            <a:r>
              <a:rPr dirty="0" lang="ru-RU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?</a:t>
            </a:r>
            <a:endParaRPr altLang="en-US" dirty="0" lang="ru-RU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48599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425450" y="2331085"/>
            <a:ext cx="10515600" cy="3270885"/>
          </a:xfrm>
        </p:spPr>
        <p:txBody>
          <a:bodyPr>
            <a:normAutofit fontScale="97143" lnSpcReduction="20000"/>
          </a:bodyPr>
          <a:p>
            <a:r>
              <a:rPr>
                <a:solidFill>
                  <a:schemeClr val="bg1"/>
                </a:solidFill>
                <a:latin typeface="+mj-lt"/>
                <a:cs typeface="+mj-lt"/>
                <a:sym typeface="+mn-ea"/>
              </a:rPr>
              <a:t>История ИИ — это три волны развития технологий</a:t>
            </a:r>
            <a:endParaRPr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endParaRPr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r>
              <a:rPr>
                <a:solidFill>
                  <a:schemeClr val="bg1"/>
                </a:solidFill>
                <a:latin typeface="+mj-lt"/>
                <a:cs typeface="+mj-lt"/>
                <a:sym typeface="+mn-ea"/>
              </a:rPr>
              <a:t>Дискриминативный — анализирует и классифицирует данные</a:t>
            </a:r>
            <a:endParaRPr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endParaRPr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r>
              <a:rPr>
                <a:solidFill>
                  <a:schemeClr val="bg1"/>
                </a:solidFill>
                <a:latin typeface="+mj-lt"/>
                <a:cs typeface="+mj-lt"/>
                <a:sym typeface="+mn-ea"/>
              </a:rPr>
              <a:t>Генеративный — создаёт контент по запросу пользователя</a:t>
            </a:r>
            <a:endParaRPr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endParaRPr>
              <a:solidFill>
                <a:schemeClr val="bg1"/>
              </a:solidFill>
              <a:latin typeface="+mj-lt"/>
              <a:cs typeface="+mj-lt"/>
              <a:sym typeface="+mn-ea"/>
            </a:endParaRPr>
          </a:p>
          <a:p>
            <a:r>
              <a:rPr>
                <a:solidFill>
                  <a:schemeClr val="bg1"/>
                </a:solidFill>
                <a:latin typeface="+mj-lt"/>
                <a:cs typeface="+mj-lt"/>
                <a:sym typeface="+mn-ea"/>
              </a:rPr>
              <a:t>Сейчас мы в интерактивной волне: даём направление — система сама решает задачу</a:t>
            </a:r>
            <a:endParaRPr>
              <a:solidFill>
                <a:schemeClr val="bg1"/>
              </a:solidFill>
              <a:latin typeface="+mj-lt"/>
              <a:cs typeface="+mj-lt"/>
              <a:sym typeface="+mn-ea"/>
            </a:endParaRPr>
          </a:p>
        </p:txBody>
      </p:sp>
      <p:pic>
        <p:nvPicPr>
          <p:cNvPr id="2097157" name="Изображение 5" descr="image-no-bg-preview (carve.photos) (1)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040620" y="100330"/>
            <a:ext cx="1666875" cy="179070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34" name=""/>
        <p:cNvGrpSpPr/>
        <p:nvPr/>
      </p:nvGrpSpPr>
      <p:grpSpPr>
        <a:xfrm/>
      </p:grpSpPr>
      <p:sp>
        <p:nvSpPr>
          <p:cNvPr id="1048600" name="Заголовок 1"/>
          <p:cNvSpPr>
            <a:spLocks noGrp="1"/>
          </p:cNvSpPr>
          <p:nvPr>
            <p:ph type="title"/>
          </p:nvPr>
        </p:nvSpPr>
        <p:spPr>
          <a:xfrm>
            <a:off x="253365" y="258445"/>
            <a:ext cx="10515600" cy="1325563"/>
          </a:xfrm>
        </p:spPr>
        <p:txBody>
          <a:bodyPr/>
          <a:p>
            <a:r>
              <a:rPr dirty="0" lang="ru-RU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Что такое </a:t>
            </a:r>
            <a:r>
              <a:rPr dirty="0" sz="4800" lang="ru-RU" smtClean="0">
                <a:solidFill>
                  <a:schemeClr val="bg1"/>
                </a:solidFill>
                <a:latin typeface="Narisovan" charset="0"/>
                <a:cs typeface="Narisovan" charset="0"/>
                <a:sym typeface="+mn-ea"/>
              </a:rPr>
              <a:t>Интерактивный </a:t>
            </a:r>
            <a:r>
              <a:rPr dirty="0" lang="ru-RU" smtClean="0">
                <a:solidFill>
                  <a:schemeClr val="bg1"/>
                </a:solidFill>
                <a:latin typeface="Narisovan" charset="0"/>
                <a:cs typeface="Narisovan" charset="0"/>
                <a:sym typeface="+mn-ea"/>
              </a:rPr>
              <a:t>ИИ?</a:t>
            </a:r>
            <a:endParaRPr altLang="en-US" dirty="0" lang="ru-RU" smtClean="0">
              <a:solidFill>
                <a:schemeClr val="bg1"/>
              </a:solidFill>
              <a:latin typeface="Narisovan" charset="0"/>
              <a:cs typeface="Narisovan" charset="0"/>
              <a:sym typeface="+mn-ea"/>
            </a:endParaRPr>
          </a:p>
        </p:txBody>
      </p:sp>
      <p:sp>
        <p:nvSpPr>
          <p:cNvPr id="1048601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253365" y="1889760"/>
            <a:ext cx="10515600" cy="4401820"/>
          </a:xfrm>
        </p:spPr>
        <p:txBody>
          <a:bodyPr>
            <a:noAutofit/>
          </a:bodyPr>
          <a:p>
            <a:r>
              <a:rPr dirty="0" sz="3600" lang="ru-RU">
                <a:solidFill>
                  <a:schemeClr val="bg1"/>
                </a:solidFill>
                <a:sym typeface="+mn-ea"/>
              </a:rPr>
              <a:t>Это направление, где акцент — на непрерывном диалоге с человеком</a:t>
            </a:r>
            <a:endParaRPr dirty="0" sz="3600" lang="ru-RU">
              <a:solidFill>
                <a:schemeClr val="bg1"/>
              </a:solidFill>
              <a:sym typeface="+mn-ea"/>
            </a:endParaRPr>
          </a:p>
          <a:p>
            <a:r>
              <a:rPr dirty="0" sz="3600" lang="ru-RU">
                <a:solidFill>
                  <a:schemeClr val="bg1"/>
                </a:solidFill>
                <a:sym typeface="+mn-ea"/>
              </a:rPr>
              <a:t>Не просто анализ данных или генерация контента — а живое взаимодействие</a:t>
            </a:r>
            <a:endParaRPr dirty="0" sz="3600" lang="ru-RU">
              <a:solidFill>
                <a:schemeClr val="bg1"/>
              </a:solidFill>
              <a:sym typeface="+mn-ea"/>
            </a:endParaRPr>
          </a:p>
          <a:p>
            <a:r>
              <a:rPr dirty="0" sz="3600" lang="ru-RU">
                <a:solidFill>
                  <a:schemeClr val="bg1"/>
                </a:solidFill>
                <a:sym typeface="+mn-ea"/>
              </a:rPr>
              <a:t>Сам процесс становится интерактивным для пользователя</a:t>
            </a:r>
            <a:endParaRPr dirty="0" sz="3600" lang="ru-RU">
              <a:solidFill>
                <a:schemeClr val="bg1"/>
              </a:solidFill>
              <a:sym typeface="+mn-ea"/>
            </a:endParaRPr>
          </a:p>
          <a:p>
            <a:r>
              <a:rPr dirty="0" sz="3600" lang="ru-RU">
                <a:solidFill>
                  <a:schemeClr val="bg1"/>
                </a:solidFill>
                <a:sym typeface="+mn-ea"/>
              </a:rPr>
              <a:t>Человек и ИИ работают Совместно, а не по очереди</a:t>
            </a:r>
            <a:endParaRPr dirty="0" sz="3600" lang="ru-RU">
              <a:solidFill>
                <a:schemeClr val="bg1"/>
              </a:solidFill>
              <a:sym typeface="+mn-ea"/>
            </a:endParaRPr>
          </a:p>
        </p:txBody>
      </p:sp>
      <p:pic>
        <p:nvPicPr>
          <p:cNvPr id="2097158" name="Изображение 4" descr="image-no-bg-preview (carve.photos) (2)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325100" y="0"/>
            <a:ext cx="1866900" cy="1819275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35" name=""/>
        <p:cNvGrpSpPr/>
        <p:nvPr/>
      </p:nvGrpSpPr>
      <p:grpSpPr>
        <a:xfrm/>
      </p:grpSpPr>
      <p:sp>
        <p:nvSpPr>
          <p:cNvPr id="1048602" name="Заголовок 1"/>
          <p:cNvSpPr>
            <a:spLocks noGrp="1"/>
          </p:cNvSpPr>
          <p:nvPr>
            <p:ph type="title"/>
          </p:nvPr>
        </p:nvSpPr>
        <p:spPr>
          <a:xfrm>
            <a:off x="247015" y="258445"/>
            <a:ext cx="12030710" cy="1325880"/>
          </a:xfrm>
        </p:spPr>
        <p:txBody>
          <a:bodyPr/>
          <a:p>
            <a:r>
              <a:rPr dirty="0" sz="3600" lang="ru-RU" smtClean="0">
                <a:solidFill>
                  <a:schemeClr val="bg1"/>
                </a:solidFill>
                <a:latin typeface="Narisovan" charset="0"/>
                <a:cs typeface="Narisovan" charset="0"/>
                <a:sym typeface="+mn-ea"/>
              </a:rPr>
              <a:t>Три основных свойства Интерактивного ИИ</a:t>
            </a:r>
            <a:r>
              <a:rPr dirty="0" sz="3600" lang="en-US" smtClean="0">
                <a:solidFill>
                  <a:schemeClr val="bg1"/>
                </a:solidFill>
                <a:latin typeface="Narisovan" charset="0"/>
                <a:cs typeface="Narisovan" charset="0"/>
                <a:sym typeface="+mn-ea"/>
              </a:rPr>
              <a:t>:</a:t>
            </a:r>
            <a:endParaRPr altLang="en-US" dirty="0" sz="3600" lang="en-US" smtClean="0">
              <a:solidFill>
                <a:schemeClr val="bg1"/>
              </a:solidFill>
              <a:latin typeface="Narisovan" charset="0"/>
              <a:cs typeface="Narisovan" charset="0"/>
              <a:sym typeface="+mn-ea"/>
            </a:endParaRPr>
          </a:p>
        </p:txBody>
      </p:sp>
      <p:sp>
        <p:nvSpPr>
          <p:cNvPr id="1048603" name="Замещающее содержимое 4"/>
          <p:cNvSpPr/>
          <p:nvPr>
            <p:ph idx="1"/>
          </p:nvPr>
        </p:nvSpPr>
        <p:spPr>
          <a:xfrm>
            <a:off x="307975" y="1805305"/>
            <a:ext cx="10515600" cy="4775835"/>
          </a:xfrm>
        </p:spPr>
        <p:txBody>
          <a:bodyPr>
            <a:noAutofit/>
          </a:bodyPr>
          <a:p>
            <a:r>
              <a:rPr altLang="en-US" lang="ru-RU">
                <a:solidFill>
                  <a:schemeClr val="bg1"/>
                </a:solidFill>
              </a:rPr>
              <a:t>Проактивность — не ждёт детальных инструкций, сам действует по цели</a:t>
            </a:r>
            <a:endParaRPr altLang="en-US" lang="ru-RU">
              <a:solidFill>
                <a:schemeClr val="bg1"/>
              </a:solidFill>
            </a:endParaRPr>
          </a:p>
          <a:p>
            <a:endParaRPr altLang="en-US" lang="ru-RU">
              <a:solidFill>
                <a:schemeClr val="bg1"/>
              </a:solidFill>
            </a:endParaRPr>
          </a:p>
          <a:p>
            <a:r>
              <a:rPr altLang="en-US" lang="ru-RU">
                <a:solidFill>
                  <a:schemeClr val="bg1"/>
                </a:solidFill>
              </a:rPr>
              <a:t>Автономия — подключает API, ищет в сети, пишет код и использует ресурсы</a:t>
            </a:r>
            <a:endParaRPr altLang="en-US" lang="ru-RU">
              <a:solidFill>
                <a:schemeClr val="bg1"/>
              </a:solidFill>
            </a:endParaRPr>
          </a:p>
          <a:p>
            <a:endParaRPr altLang="en-US" lang="ru-RU">
              <a:solidFill>
                <a:schemeClr val="bg1"/>
              </a:solidFill>
            </a:endParaRPr>
          </a:p>
          <a:p>
            <a:r>
              <a:rPr altLang="en-US" lang="ru-RU">
                <a:solidFill>
                  <a:schemeClr val="bg1"/>
                </a:solidFill>
              </a:rPr>
              <a:t>Адаптация — при неудаче анализирует и меняет способ действий</a:t>
            </a:r>
            <a:endParaRPr altLang="en-US" lang="ru-RU">
              <a:solidFill>
                <a:schemeClr val="bg1"/>
              </a:solidFill>
            </a:endParaRPr>
          </a:p>
          <a:p>
            <a:endParaRPr altLang="en-US" lang="ru-RU">
              <a:solidFill>
                <a:schemeClr val="bg1"/>
              </a:solidFill>
            </a:endParaRPr>
          </a:p>
          <a:p>
            <a:r>
              <a:rPr altLang="en-US" lang="ru-RU">
                <a:solidFill>
                  <a:schemeClr val="bg1"/>
                </a:solidFill>
              </a:rPr>
              <a:t>Вместе это делает ИИ </a:t>
            </a:r>
            <a:r>
              <a:rPr altLang="en-US" lang="ru-RU" u="sng">
                <a:solidFill>
                  <a:schemeClr val="bg1"/>
                </a:solidFill>
              </a:rPr>
              <a:t>самостоятельным агентом</a:t>
            </a:r>
            <a:r>
              <a:rPr altLang="en-US" lang="ru-RU">
                <a:solidFill>
                  <a:schemeClr val="bg1"/>
                </a:solidFill>
              </a:rPr>
              <a:t>, а не калькулятором</a:t>
            </a:r>
            <a:endParaRPr altLang="en-US" lang="ru-RU">
              <a:solidFill>
                <a:schemeClr val="bg1"/>
              </a:solidFill>
            </a:endParaRPr>
          </a:p>
        </p:txBody>
      </p:sp>
      <p:pic>
        <p:nvPicPr>
          <p:cNvPr id="2097159" name="Изображение 5" descr="image-no-bg-preview (carve.photos) (4)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836275" y="5361305"/>
            <a:ext cx="1355725" cy="1496695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36" name=""/>
        <p:cNvGrpSpPr/>
        <p:nvPr/>
      </p:nvGrpSpPr>
      <p:grpSpPr>
        <a:xfrm/>
      </p:grpSpPr>
      <p:sp>
        <p:nvSpPr>
          <p:cNvPr id="1048604" name="Заголовок 1"/>
          <p:cNvSpPr>
            <a:spLocks noGrp="1"/>
          </p:cNvSpPr>
          <p:nvPr>
            <p:ph type="title"/>
          </p:nvPr>
        </p:nvSpPr>
        <p:spPr>
          <a:xfrm>
            <a:off x="325120" y="349250"/>
            <a:ext cx="11502390" cy="1325880"/>
          </a:xfrm>
        </p:spPr>
        <p:txBody>
          <a:bodyPr>
            <a:noAutofit/>
          </a:bodyPr>
          <a:p>
            <a:pPr algn="ctr"/>
            <a:r>
              <a:rPr altLang="en-US" sz="40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Технологические драйверы перехода</a:t>
            </a:r>
            <a:endParaRPr altLang="en-US" sz="4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</p:txBody>
      </p:sp>
      <p:sp>
        <p:nvSpPr>
          <p:cNvPr id="1048605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324485" y="2471420"/>
            <a:ext cx="10515600" cy="4058920"/>
          </a:xfrm>
        </p:spPr>
        <p:txBody>
          <a:bodyPr>
            <a:normAutofit fontScale="96429" lnSpcReduction="20000"/>
          </a:bodyPr>
          <a:p>
            <a:r>
              <a:rPr altLang="en-US" lang="ru-RU">
                <a:solidFill>
                  <a:schemeClr val="bg1"/>
                </a:solidFill>
              </a:rPr>
              <a:t>Память и контекст — модель удерживает историю и не теряет нить беседы</a:t>
            </a:r>
            <a:endParaRPr altLang="en-US" lang="ru-RU">
              <a:solidFill>
                <a:schemeClr val="bg1"/>
              </a:solidFill>
            </a:endParaRPr>
          </a:p>
          <a:p>
            <a:endParaRPr altLang="en-US" lang="ru-RU">
              <a:solidFill>
                <a:schemeClr val="bg1"/>
              </a:solidFill>
            </a:endParaRPr>
          </a:p>
          <a:p>
            <a:r>
              <a:rPr altLang="en-US" lang="ru-RU">
                <a:solidFill>
                  <a:schemeClr val="bg1"/>
                </a:solidFill>
              </a:rPr>
              <a:t>Function Calling и API — ИИ вызывает инструменты, ищет в сети и пишет код</a:t>
            </a:r>
            <a:endParaRPr altLang="en-US" lang="ru-RU">
              <a:solidFill>
                <a:schemeClr val="bg1"/>
              </a:solidFill>
            </a:endParaRPr>
          </a:p>
          <a:p>
            <a:endParaRPr altLang="en-US" lang="ru-RU">
              <a:solidFill>
                <a:schemeClr val="bg1"/>
              </a:solidFill>
            </a:endParaRPr>
          </a:p>
          <a:p>
            <a:r>
              <a:rPr altLang="en-US" lang="ru-RU">
                <a:solidFill>
                  <a:schemeClr val="bg1"/>
                </a:solidFill>
              </a:rPr>
              <a:t>Агентные архитектуры — системы сами ставят подзадачи и идут к цели</a:t>
            </a:r>
            <a:endParaRPr altLang="en-US" lang="ru-RU">
              <a:solidFill>
                <a:schemeClr val="bg1"/>
              </a:solidFill>
            </a:endParaRPr>
          </a:p>
          <a:p>
            <a:endParaRPr altLang="en-US" lang="ru-RU">
              <a:solidFill>
                <a:schemeClr val="bg1"/>
              </a:solidFill>
            </a:endParaRPr>
          </a:p>
          <a:p>
            <a:r>
              <a:rPr altLang="en-US" lang="ru-RU">
                <a:solidFill>
                  <a:schemeClr val="bg1"/>
                </a:solidFill>
              </a:rPr>
              <a:t>Эти три технологии открыли дверь в интерактивную эру</a:t>
            </a:r>
            <a:endParaRPr altLang="en-US" lang="ru-RU">
              <a:solidFill>
                <a:schemeClr val="bg1"/>
              </a:solidFill>
            </a:endParaRPr>
          </a:p>
        </p:txBody>
      </p:sp>
      <p:pic>
        <p:nvPicPr>
          <p:cNvPr id="2097160" name="Изображение 3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1522710" y="6173470"/>
            <a:ext cx="669290" cy="68072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37" name=""/>
        <p:cNvGrpSpPr/>
        <p:nvPr/>
      </p:nvGrpSpPr>
      <p:grpSpPr>
        <a:xfrm/>
      </p:grpSpPr>
      <p:sp>
        <p:nvSpPr>
          <p:cNvPr id="1048606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ru-RU">
                <a:solidFill>
                  <a:schemeClr val="bg1"/>
                </a:solidFill>
              </a:rPr>
              <a:t>Места </a:t>
            </a:r>
            <a:r>
              <a:rPr altLang="en-US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применения </a:t>
            </a:r>
            <a:r>
              <a:rPr altLang="en-US" lang="ru-RU">
                <a:solidFill>
                  <a:schemeClr val="bg1"/>
                </a:solidFill>
              </a:rPr>
              <a:t>интерактивного </a:t>
            </a:r>
            <a:r>
              <a:rPr altLang="en-US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ИИ</a:t>
            </a:r>
            <a:endParaRPr altLang="en-US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</p:txBody>
      </p:sp>
      <p:sp>
        <p:nvSpPr>
          <p:cNvPr id="1048607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16890" y="2249805"/>
            <a:ext cx="10515600" cy="4099560"/>
          </a:xfrm>
        </p:spPr>
        <p:txBody>
          <a:bodyPr>
            <a:normAutofit fontScale="90000" lnSpcReduction="10000"/>
          </a:bodyPr>
          <a:p>
            <a:r>
              <a:rPr altLang="en-US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Образование —</a:t>
            </a:r>
            <a:r>
              <a:rPr altLang="en-US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персональный наставник, который ведет диалог и подстраивается под ученика</a:t>
            </a:r>
            <a:endParaRPr altLang="en-US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lang="ru-RU">
                <a:solidFill>
                  <a:schemeClr val="bg1"/>
                </a:solidFill>
                <a:latin typeface="Narisovan" charset="0"/>
                <a:cs typeface="Narisovan" charset="0"/>
              </a:rPr>
              <a:t>Разработка и бизнес — </a:t>
            </a:r>
            <a:r>
              <a:rPr altLang="en-US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копилоты пишут код, агенты ведут задачи и переговоры</a:t>
            </a:r>
            <a:endParaRPr altLang="en-US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endParaRPr altLang="en-US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lang="ru-RU">
                <a:solidFill>
                  <a:schemeClr val="bg1"/>
                </a:solidFill>
                <a:latin typeface="Narisovan" charset="0"/>
                <a:cs typeface="Narisovan" charset="0"/>
              </a:rPr>
              <a:t>Творчество и игры — </a:t>
            </a:r>
            <a:r>
              <a:rPr altLang="en-US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NPC с памятью, соавторы в реальном времени</a:t>
            </a:r>
            <a:endParaRPr altLang="en-US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altLang="en-US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Медицина </a:t>
            </a:r>
            <a:r>
              <a:rPr altLang="en-US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ассистент, который ведёт историю пациента и уточняет симптомы.</a:t>
            </a:r>
            <a:endParaRPr altLang="en-US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1" name="Изображение 3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558780" y="5634990"/>
            <a:ext cx="1633220" cy="1223010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38" name=""/>
        <p:cNvGrpSpPr/>
        <p:nvPr/>
      </p:nvGrpSpPr>
      <p:grpSpPr>
        <a:xfrm/>
      </p:grpSpPr>
      <p:sp>
        <p:nvSpPr>
          <p:cNvPr id="1048608" name="Заголовок 1"/>
          <p:cNvSpPr>
            <a:spLocks noGrp="1"/>
          </p:cNvSpPr>
          <p:nvPr>
            <p:ph type="title"/>
          </p:nvPr>
        </p:nvSpPr>
        <p:spPr>
          <a:xfrm>
            <a:off x="577215" y="258445"/>
            <a:ext cx="10515600" cy="1325563"/>
          </a:xfrm>
        </p:spPr>
        <p:txBody>
          <a:bodyPr>
            <a:noAutofit/>
          </a:bodyPr>
          <a:p>
            <a:pPr algn="ctr"/>
            <a:r>
              <a:rPr altLang="en-US" sz="7200" lang="ru-RU">
                <a:solidFill>
                  <a:schemeClr val="bg1"/>
                </a:solidFill>
                <a:latin typeface="Narisovan" charset="0"/>
                <a:cs typeface="Narisovan" charset="0"/>
                <a:sym typeface="+mn-ea"/>
              </a:rPr>
              <a:t>Роль человека</a:t>
            </a:r>
            <a:endParaRPr altLang="en-US" sz="7200" lang="ru-RU">
              <a:solidFill>
                <a:schemeClr val="bg1"/>
              </a:solidFill>
              <a:latin typeface="Narisovan" charset="0"/>
              <a:cs typeface="Narisovan" charset="0"/>
              <a:sym typeface="+mn-ea"/>
            </a:endParaRPr>
          </a:p>
        </p:txBody>
      </p:sp>
      <p:sp>
        <p:nvSpPr>
          <p:cNvPr id="1048609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334645" y="2247265"/>
            <a:ext cx="10515600" cy="4109085"/>
          </a:xfrm>
        </p:spPr>
        <p:txBody>
          <a:bodyPr>
            <a:noAutofit/>
          </a:bodyPr>
          <a:p>
            <a:r>
              <a:rPr altLang="en-US" sz="2400" lang="ru-RU">
                <a:solidFill>
                  <a:schemeClr val="bg1"/>
                </a:solidFill>
              </a:rPr>
              <a:t>От автора промпта — </a:t>
            </a:r>
            <a:r>
              <a:rPr altLang="en-US" sz="24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к собеседнику и режиссеру процесса</a:t>
            </a:r>
            <a:endParaRPr altLang="en-US" sz="24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endParaRPr altLang="en-US" sz="24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sz="2400" lang="ru-RU">
                <a:solidFill>
                  <a:schemeClr val="bg1"/>
                </a:solidFill>
              </a:rPr>
              <a:t>Человек задает цель и смысл, ИИ берет на себя рутину и итерации</a:t>
            </a:r>
            <a:endParaRPr altLang="en-US" sz="2400" lang="ru-RU">
              <a:solidFill>
                <a:schemeClr val="bg1"/>
              </a:solidFill>
            </a:endParaRPr>
          </a:p>
          <a:p>
            <a:endParaRPr altLang="en-US" sz="2400" lang="ru-RU">
              <a:solidFill>
                <a:schemeClr val="bg1"/>
              </a:solidFill>
            </a:endParaRPr>
          </a:p>
          <a:p>
            <a:r>
              <a:rPr altLang="en-US" sz="2400" lang="ru-RU">
                <a:solidFill>
                  <a:schemeClr val="bg1"/>
                </a:solidFill>
              </a:rPr>
              <a:t>Главный навык — умение вести диалог и ставить задачи</a:t>
            </a:r>
            <a:endParaRPr altLang="en-US" sz="2400" lang="ru-RU">
              <a:solidFill>
                <a:schemeClr val="bg1"/>
              </a:solidFill>
            </a:endParaRPr>
          </a:p>
          <a:p>
            <a:endParaRPr altLang="en-US" sz="2400" lang="ru-RU">
              <a:solidFill>
                <a:schemeClr val="bg1"/>
              </a:solidFill>
            </a:endParaRPr>
          </a:p>
          <a:p>
            <a:r>
              <a:rPr altLang="en-US" sz="2400" lang="ru-RU">
                <a:solidFill>
                  <a:schemeClr val="bg1"/>
                </a:solidFill>
              </a:rPr>
              <a:t>Промпт становится диалогом</a:t>
            </a:r>
            <a:endParaRPr altLang="en-US" sz="2400" lang="ru-RU">
              <a:solidFill>
                <a:schemeClr val="bg1"/>
              </a:solidFill>
            </a:endParaRPr>
          </a:p>
          <a:p>
            <a:endParaRPr altLang="en-US" sz="2400" lang="ru-RU">
              <a:solidFill>
                <a:schemeClr val="bg1"/>
              </a:solidFill>
            </a:endParaRPr>
          </a:p>
          <a:p>
            <a:r>
              <a:rPr altLang="en-US" sz="2400" lang="ru-RU">
                <a:solidFill>
                  <a:schemeClr val="bg1"/>
                </a:solidFill>
              </a:rPr>
              <a:t>Ускоряется итерация идей</a:t>
            </a:r>
            <a:endParaRPr altLang="en-US" sz="2400" lang="ru-RU">
              <a:solidFill>
                <a:schemeClr val="bg1"/>
              </a:solidFill>
            </a:endParaRPr>
          </a:p>
        </p:txBody>
      </p:sp>
      <p:pic>
        <p:nvPicPr>
          <p:cNvPr id="2097162" name="Изображение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242425" y="3999865"/>
            <a:ext cx="2949575" cy="2858135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39" name=""/>
        <p:cNvGrpSpPr/>
        <p:nvPr/>
      </p:nvGrpSpPr>
      <p:grpSpPr>
        <a:xfrm/>
      </p:grpSpPr>
      <p:sp>
        <p:nvSpPr>
          <p:cNvPr id="1048610" name="Заголовок 1"/>
          <p:cNvSpPr>
            <a:spLocks noGrp="1"/>
          </p:cNvSpPr>
          <p:nvPr>
            <p:ph type="title"/>
          </p:nvPr>
        </p:nvSpPr>
        <p:spPr>
          <a:xfrm>
            <a:off x="647700" y="400050"/>
            <a:ext cx="10515600" cy="1325563"/>
          </a:xfrm>
        </p:spPr>
        <p:txBody>
          <a:bodyPr>
            <a:normAutofit fontScale="97576"/>
          </a:bodyPr>
          <a:p>
            <a:pPr algn="ctr"/>
            <a:r>
              <a:rPr altLang="en-US" sz="66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Ускоряется итерация идей</a:t>
            </a:r>
            <a:endParaRPr altLang="en-US" sz="66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</p:txBody>
      </p:sp>
      <p:sp>
        <p:nvSpPr>
          <p:cNvPr id="1048611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354965" y="2381250"/>
            <a:ext cx="10515600" cy="4351338"/>
          </a:xfrm>
        </p:spPr>
        <p:txBody>
          <a:bodyPr>
            <a:normAutofit lnSpcReduction="10000"/>
          </a:bodyPr>
          <a:p>
            <a:r>
              <a:rPr altLang="en-US" sz="3600" lang="ru-RU">
                <a:solidFill>
                  <a:schemeClr val="bg1"/>
                </a:solidFill>
              </a:rPr>
              <a:t>Анализ ошибок — система проверяет результат и понимает, что пошло не так</a:t>
            </a:r>
            <a:endParaRPr altLang="en-US" sz="3600" lang="ru-RU">
              <a:solidFill>
                <a:schemeClr val="bg1"/>
              </a:solidFill>
            </a:endParaRPr>
          </a:p>
          <a:p>
            <a:endParaRPr altLang="en-US" sz="3600" lang="ru-RU">
              <a:solidFill>
                <a:schemeClr val="bg1"/>
              </a:solidFill>
            </a:endParaRPr>
          </a:p>
          <a:p>
            <a:r>
              <a:rPr altLang="en-US" sz="3600" lang="ru-RU">
                <a:solidFill>
                  <a:schemeClr val="bg1"/>
                </a:solidFill>
              </a:rPr>
              <a:t>Смена стратегии — </a:t>
            </a:r>
            <a:r>
              <a:rPr altLang="en-US" sz="3600" lang="ru-RU">
                <a:solidFill>
                  <a:schemeClr val="bg1"/>
                </a:solidFill>
              </a:rPr>
              <a:t>ИИ меняет подход, а не повторяет неудачный шаг</a:t>
            </a:r>
            <a:endParaRPr altLang="en-US" sz="3600" lang="ru-RU">
              <a:solidFill>
                <a:schemeClr val="bg1"/>
              </a:solidFill>
            </a:endParaRPr>
          </a:p>
          <a:p>
            <a:endParaRPr altLang="en-US" sz="3600" lang="ru-RU">
              <a:solidFill>
                <a:schemeClr val="bg1"/>
              </a:solidFill>
            </a:endParaRPr>
          </a:p>
          <a:p>
            <a:r>
              <a:rPr altLang="en-US" sz="3600" lang="ru-RU">
                <a:solidFill>
                  <a:schemeClr val="bg1"/>
                </a:solidFill>
              </a:rPr>
              <a:t>Накопление опыта — удачные решения запоминаются и применяются в будущем</a:t>
            </a:r>
            <a:endParaRPr altLang="en-US" sz="3600" lang="ru-RU">
              <a:solidFill>
                <a:schemeClr val="bg1"/>
              </a:solidFill>
            </a:endParaRPr>
          </a:p>
        </p:txBody>
      </p:sp>
      <p:pic>
        <p:nvPicPr>
          <p:cNvPr id="2097163" name="Изображение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696893" y="5478751"/>
            <a:ext cx="2495107" cy="1379249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30" name=""/>
        <p:cNvGrpSpPr/>
        <p:nvPr/>
      </p:nvGrpSpPr>
      <p:grpSpPr>
        <a:xfrm/>
      </p:grpSpPr>
      <p:sp>
        <p:nvSpPr>
          <p:cNvPr id="1048590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altLang="en-US" sz="60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Возможные проблемы</a:t>
            </a:r>
            <a:endParaRPr altLang="en-US" sz="6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</p:txBody>
      </p:sp>
      <p:sp>
        <p:nvSpPr>
          <p:cNvPr id="1048591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77215" y="1886585"/>
            <a:ext cx="10515600" cy="4140200"/>
          </a:xfrm>
        </p:spPr>
        <p:txBody>
          <a:bodyPr>
            <a:normAutofit fontScale="80000"/>
          </a:bodyPr>
          <a:p>
            <a:endParaRPr altLang="en-US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lang="ru-RU">
                <a:solidFill>
                  <a:schemeClr val="bg1"/>
                </a:solidFill>
                <a:latin typeface="Narisovan" charset="0"/>
                <a:cs typeface="Narisovan" charset="0"/>
              </a:rPr>
              <a:t>Проблема безопа</a:t>
            </a:r>
            <a:r>
              <a:rPr dirty="0" lang="ru-RU">
                <a:solidFill>
                  <a:schemeClr val="bg1"/>
                </a:solidFill>
                <a:latin typeface="Narisovan" charset="0"/>
                <a:cs typeface="Narisovan" charset="0"/>
                <a:sym typeface="+mn-ea"/>
              </a:rPr>
              <a:t>сности </a:t>
            </a:r>
            <a:r>
              <a:rPr dirty="0" lang="ru-RU" smtClean="0">
                <a:solidFill>
                  <a:schemeClr val="bg1"/>
                </a:solidFill>
                <a:latin typeface="Narisovan" charset="0"/>
                <a:cs typeface="Narisovan" charset="0"/>
                <a:sym typeface="+mn-ea"/>
              </a:rPr>
              <a:t>- </a:t>
            </a:r>
            <a:r>
              <a:rPr dirty="0" lang="ru-RU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злоумышленники </a:t>
            </a:r>
            <a:r>
              <a:rPr dirty="0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могут манипулировать агентом через внешние данные, заставляя его совершать вредоносные действия в корпоративных </a:t>
            </a:r>
            <a:r>
              <a:rPr dirty="0" lang="ru-RU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системах </a:t>
            </a:r>
            <a:r>
              <a:rPr altLang="en-US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остоянная память собирает данные о вас годами</a:t>
            </a:r>
            <a:endParaRPr dirty="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Непредсказуемость — </a:t>
            </a:r>
            <a:r>
              <a:rPr altLang="en-US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автономные агенты могут действовать вне этики и закона</a:t>
            </a:r>
            <a:endParaRPr altLang="en-US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lang="ru-RU">
                <a:solidFill>
                  <a:schemeClr val="bg1"/>
                </a:solidFill>
                <a:latin typeface="Narisovan" charset="0"/>
                <a:cs typeface="Narisovan" charset="0"/>
              </a:rPr>
              <a:t>Сложность отладки - </a:t>
            </a:r>
            <a:r>
              <a:rPr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сложности воссоздать и исправить ошибку в цепочке из множества автономных действий, которые агент совершил на основе динамического контекста</a:t>
            </a:r>
            <a:endParaRPr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Изображение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596755" y="5661660"/>
            <a:ext cx="2595245" cy="119634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29" name=""/>
        <p:cNvGrpSpPr/>
        <p:nvPr/>
      </p:nvGrpSpPr>
      <p:grpSpPr>
        <a:xfrm/>
      </p:grpSpPr>
      <p:sp>
        <p:nvSpPr>
          <p:cNvPr id="1048588" name="Заголовок 1"/>
          <p:cNvSpPr>
            <a:spLocks noGrp="1"/>
          </p:cNvSpPr>
          <p:nvPr>
            <p:ph type="title"/>
          </p:nvPr>
        </p:nvSpPr>
        <p:spPr>
          <a:xfrm>
            <a:off x="1365250" y="0"/>
            <a:ext cx="9939655" cy="1325880"/>
          </a:xfrm>
        </p:spPr>
        <p:txBody>
          <a:bodyPr>
            <a:normAutofit fontScale="99091"/>
          </a:bodyPr>
          <a:p>
            <a:r>
              <a:rPr altLang="en-US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Как работает генеративный ИИ?</a:t>
            </a:r>
            <a:endParaRPr altLang="en-US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</p:txBody>
      </p:sp>
      <p:sp>
        <p:nvSpPr>
          <p:cNvPr id="1048589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43510" y="1441450"/>
            <a:ext cx="10515600" cy="4977765"/>
          </a:xfrm>
        </p:spPr>
        <p:txBody>
          <a:bodyPr>
            <a:noAutofit/>
          </a:bodyPr>
          <a:p>
            <a:r>
              <a:rPr altLang="en-US" sz="20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Создает текст, код, изображения по промпту</a:t>
            </a:r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sz="20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Работает по принципу запрос - ответ</a:t>
            </a:r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sz="20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Примеры: ChatGPT, Midjourney</a:t>
            </a:r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sz="20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Ограничение: отсутствие памяти</a:t>
            </a:r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sz="20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Каждый запрос — новый чат</a:t>
            </a:r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sz="20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Пользователь получает статичный результат</a:t>
            </a:r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r>
              <a:rPr altLang="en-US" sz="2000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Нет адаптации к контексту беседы</a:t>
            </a:r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  <a:p>
            <a:endParaRPr altLang="en-US" sz="2000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</p:txBody>
      </p:sp>
      <p:pic>
        <p:nvPicPr>
          <p:cNvPr id="2097153" name="Изображение 3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9163685" y="3429000"/>
            <a:ext cx="3028315" cy="3429000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28" name=""/>
        <p:cNvGrpSpPr/>
        <p:nvPr/>
      </p:nvGrpSpPr>
      <p:grpSpPr>
        <a:xfrm/>
      </p:grpSpPr>
      <p:sp>
        <p:nvSpPr>
          <p:cNvPr id="1048586" name="Заголовок 1"/>
          <p:cNvSpPr>
            <a:spLocks noGrp="1"/>
          </p:cNvSpPr>
          <p:nvPr>
            <p:ph type="title"/>
          </p:nvPr>
        </p:nvSpPr>
        <p:spPr>
          <a:xfrm>
            <a:off x="1365250" y="0"/>
            <a:ext cx="9939655" cy="1325880"/>
          </a:xfrm>
        </p:spPr>
        <p:txBody>
          <a:bodyPr>
            <a:normAutofit fontScale="99091"/>
          </a:bodyPr>
          <a:p>
            <a:r>
              <a:rPr altLang="en-US" lang="ru-RU">
                <a:solidFill>
                  <a:schemeClr val="bg1"/>
                </a:solidFill>
                <a:latin typeface="Narisovan" charset="0"/>
                <a:cs typeface="Narisovan" charset="0"/>
              </a:rPr>
              <a:t>Как работает интерактивный ИИ?</a:t>
            </a:r>
            <a:endParaRPr altLang="en-US" lang="ru-RU">
              <a:solidFill>
                <a:schemeClr val="bg1"/>
              </a:solidFill>
              <a:latin typeface="Narisovan" charset="0"/>
              <a:cs typeface="Narisovan" charset="0"/>
            </a:endParaRPr>
          </a:p>
        </p:txBody>
      </p:sp>
      <p:sp>
        <p:nvSpPr>
          <p:cNvPr id="1048587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43510" y="1441450"/>
            <a:ext cx="10515600" cy="4977765"/>
          </a:xfrm>
        </p:spPr>
        <p:txBody>
          <a:bodyPr>
            <a:noAutofit/>
          </a:bodyPr>
          <a:p>
            <a:r>
              <a:rPr altLang="en-US" sz="2400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Ведёт непрерывный диалог с пользователем</a:t>
            </a:r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altLang="en-US" sz="2400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Помнит вас между сессиями и накапливает опыт</a:t>
            </a:r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altLang="en-US" sz="2400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Вызывает API, поиск, код — выходит за пределы модели</a:t>
            </a:r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altLang="en-US" sz="2400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 ставит подзадачи для достижения цели</a:t>
            </a:r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altLang="en-US" sz="2400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Анализирует ошибки и меняет стратегию</a:t>
            </a:r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altLang="en-US" sz="2400" lang="ru-RU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живой — его можно править в диалоге</a:t>
            </a:r>
            <a:endParaRPr altLang="en-US" sz="2400" lang="ru-RU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Изображение 4" descr="image-no-bg-preview (carve.photos) (3)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323580" y="3497580"/>
            <a:ext cx="3533775" cy="2921635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27" name=""/>
        <p:cNvGrpSpPr/>
        <p:nvPr/>
      </p:nvGrpSpPr>
      <p:grpSpPr>
        <a:xfrm/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23049PCD8G</dc:creator>
  <cp:lastModifiedBy>User</cp:lastModifiedBy>
  <dcterms:created xsi:type="dcterms:W3CDTF">2026-09-10T03:55:00Z</dcterms:created>
  <dcterms:modified xsi:type="dcterms:W3CDTF">2026-09-11T06:10:05Z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1049-12.1.0.28032</vt:lpwstr>
  </property>
  <property fmtid="{D5CDD505-2E9C-101B-9397-08002B2CF9AE}" pid="3" name="ICV">
    <vt:lpwstr>b51fc3902ca64085917aa13f1670121d_23</vt:lpwstr>
  </property>
</Properties>
</file>